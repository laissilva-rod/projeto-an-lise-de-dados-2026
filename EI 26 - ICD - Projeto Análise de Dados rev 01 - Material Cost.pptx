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64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114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065647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Contexto: a gestão de projetos precisa verificar a cada etapa se o material cost dos componentes respeita o custo-alvo da máquina final.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BB78D4-F4A8-58BD-6ED3-8421A3AB7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FFC823-BEAB-5112-EEC8-920C0A0AF5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788FE3-E7CE-64F7-56E6-E9CCD55EBD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notebook começou com uma base sintética de 150 linhas e passou para a base real (Material cost compilado.xlsx). Os nomes de modelo aparecem anonimizados (M1 a M4 e B1 a B4).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2D3A75-8B82-05FD-0BE3-1BB84F277B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4983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notebook começou com uma base sintética de 150 linhas e passou para a base real (Material cost compilado.xlsx). Os nomes de modelo aparecem anonimizados (M1 a M4 e B1 a B4).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Outlier por IQR dentro de cada General System. Outlier não significa sobrepreço: motores, cabines e frames são naturalmente caros dentro de seus sistemas.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Alvo da etapa de ML: Landed Total. Divisão 80/20 com random_state 42 e GridSearchCV em 3 folds (melhor: learning_rate 0,05, max_depth 3, 50 árvores). RMSE final: R$ 2.631,86.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valores de B1 em 30 t são recalculados: motor 58.146,87/30 e frame 29.463,18/30. Os demais vêm do notebook. É preciso reexecutar as células de benchmarking e savings após corrigir o peso do B1.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Acumulados calculados a partir dos totais do notebook (percentuais sobre R$ 449.939,20). Os 22 itens de Classe A são o foco de engenharia de valor para um modelo mais barato.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notebook também contém uma célula de envio ao GitHub com falha de autenticação, sem relação com a análise. Remover tokens e dados pessoais antes de publicar o código.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566400" cy="446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200" dirty="0">
                <a:solidFill>
                  <a:srgbClr val="142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564580"/>
            <a:ext cx="10566400" cy="4480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42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566400" cy="446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200" dirty="0">
                <a:solidFill>
                  <a:srgbClr val="142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564580"/>
            <a:ext cx="10566400" cy="4480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42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167930"/>
            <a:ext cx="1088339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240"/>
              </a:lnSpc>
            </a:pPr>
            <a:r>
              <a:rPr lang="en-US" sz="1600" b="1" dirty="0">
                <a:solidFill>
                  <a:srgbClr val="E8833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ANÁLISE DE DADOS · EDA · REGRESSÃO · BENCHMARKING · TARGET COSTING</a:t>
            </a:r>
            <a:endParaRPr lang="en-US" sz="16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2706390"/>
            <a:ext cx="10883392" cy="1412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460"/>
              </a:lnSpc>
              <a:buNone/>
            </a:pPr>
            <a:r>
              <a:rPr lang="en-US" sz="5200" b="1" i="0" dirty="0">
                <a:solidFill>
                  <a:srgbClr val="F4F1E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Análise de Custos de Componentes de Escavadeiras</a:t>
            </a:r>
            <a:endParaRPr lang="en-US" sz="5200" dirty="0"/>
          </a:p>
        </p:txBody>
      </p:sp>
      <p:sp>
        <p:nvSpPr>
          <p:cNvPr id="6" name="Text 0">
            <a:extLst>
              <a:ext uri="{FF2B5EF4-FFF2-40B4-BE49-F238E27FC236}">
                <a16:creationId xmlns:a16="http://schemas.microsoft.com/office/drawing/2014/main" id="{242DEB4A-BC68-9D8A-A517-3672226C782A}"/>
              </a:ext>
            </a:extLst>
          </p:cNvPr>
          <p:cNvSpPr/>
          <p:nvPr/>
        </p:nvSpPr>
        <p:spPr>
          <a:xfrm>
            <a:off x="812800" y="6245785"/>
            <a:ext cx="1088339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240"/>
              </a:lnSpc>
            </a:pPr>
            <a:r>
              <a:rPr lang="en-US" sz="1600" b="1" dirty="0">
                <a:solidFill>
                  <a:srgbClr val="E8833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Laís Rodrigues da Silva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B5455F-5BFC-8CDE-4AE0-1303AC54B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90959DE-D69A-2F7E-12E9-DA9C38B8B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b="1" dirty="0" err="1">
                <a:latin typeface="Georgia" pitchFamily="18" charset="0"/>
              </a:rPr>
              <a:t>Objetivo</a:t>
            </a:r>
            <a:endParaRPr lang="en-US" sz="32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560ABF18-276E-39F3-68E4-C1818660A9F4}"/>
              </a:ext>
            </a:extLst>
          </p:cNvPr>
          <p:cNvSpPr/>
          <p:nvPr/>
        </p:nvSpPr>
        <p:spPr>
          <a:xfrm>
            <a:off x="812800" y="1805880"/>
            <a:ext cx="10883392" cy="988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pt-BR" dirty="0"/>
              <a:t>Este projeto tem como objetivo analisar o custo de componentes de Escavadeiras para garantir que não ultrapassem o custo-alvo (target </a:t>
            </a:r>
            <a:r>
              <a:rPr lang="pt-BR" dirty="0" err="1"/>
              <a:t>cost</a:t>
            </a:r>
            <a:r>
              <a:rPr lang="pt-BR" dirty="0"/>
              <a:t>) da máquina final, garantir competitividade no mercado, reduções de custos e tomadas de decisão.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6622458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32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Base de dados e regras de tratamento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542355"/>
            <a:ext cx="3380284" cy="1581150"/>
          </a:xfrm>
          <a:prstGeom prst="roundRect">
            <a:avLst>
              <a:gd name="adj" fmla="val 6225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3150" y="1799530"/>
            <a:ext cx="2951912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E8833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8.673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073150" y="2332930"/>
            <a:ext cx="295191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4232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linhas e 21 colunas na base real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405809" y="1542355"/>
            <a:ext cx="3380383" cy="1581150"/>
          </a:xfrm>
          <a:prstGeom prst="roundRect">
            <a:avLst>
              <a:gd name="adj" fmla="val 6225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62984" y="1799530"/>
            <a:ext cx="2952014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E8833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619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662984" y="2332930"/>
            <a:ext cx="2952014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4232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linhas (7,1%) com Landed Total igual a zero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995741" y="1542355"/>
            <a:ext cx="3380284" cy="1581150"/>
          </a:xfrm>
          <a:prstGeom prst="roundRect">
            <a:avLst>
              <a:gd name="adj" fmla="val 6225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52916" y="1799530"/>
            <a:ext cx="2951912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1F7A7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8.043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8252916" y="2332930"/>
            <a:ext cx="2951912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4232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registros válidos após o tratamento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12800" y="3406080"/>
            <a:ext cx="10883392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5A667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General System: 228 campos em branco preenchidos pelo padrão de System Group (restaram 0). Linhas de grupo ou instalação sem preço foram descartadas (10 linhas). Nulos e custos zerados saíram da análise.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A667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Análise de Custos de Componentes · Base e tratamento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32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Poucos componentes concentram o custo</a:t>
            </a:r>
            <a:endParaRPr lang="en-US" sz="3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551880"/>
          <a:ext cx="10553700" cy="1651000"/>
        </p:xfrm>
        <a:graphic>
          <a:graphicData uri="http://schemas.openxmlformats.org/drawingml/2006/table">
            <a:tbl>
              <a:tblPr/>
              <a:tblGrid>
                <a:gridCol w="2638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38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38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384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275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4232B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Classe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F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4232B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Itens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F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4232B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% dos itens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F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4232B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% do custo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32B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A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32B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190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32B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2,4%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32B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80,0%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32B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B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32B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816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32B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10,1%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32B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15,0%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32B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C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32B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7.037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32B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87,5%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32B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5,0%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12800" y="3482280"/>
            <a:ext cx="10883392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5A667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Maiores itens: ENGINE ASSY (B4: R$ 110,1 mil; B2: R$ 86,2 mil; B3: R$ 82,9 mil), frames e cabines. Custo agregado por modelo: B4 R$ 729,9 mil, o maior, e M1 R$ 356,7 mil, o menor. Foram detectados 1.245 outliers de custo unitário e 1.139 de custo total.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A667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Análise de Custos de Componentes · Curva ABC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32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Variáveis simples explicam pouco do custo</a:t>
            </a:r>
            <a:endParaRPr lang="en-US" sz="3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551880"/>
          <a:ext cx="10553700" cy="3009900"/>
        </p:xfrm>
        <a:graphic>
          <a:graphicData uri="http://schemas.openxmlformats.org/drawingml/2006/table">
            <a:tbl>
              <a:tblPr/>
              <a:tblGrid>
                <a:gridCol w="351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17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17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275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4232B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Modelo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F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4232B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R²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F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4232B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MAE (R$)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945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32B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Regressão por sistema funcional (preço unitário)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32B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0,011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32B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442,87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32B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Regressão por sistema, apenas M3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32B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−0,020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32B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566,37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32B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Regressão linear (custo total)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32B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0,042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32B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746,37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32B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Random Forest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32B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0,008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32B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685,46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945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32B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Gradient Boosting otimizado (GridSearch)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32B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0,083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32B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692,16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12800" y="4841180"/>
            <a:ext cx="10883392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5A667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Melhor resultado: R² de 0,083 no teste. Atributos usados: modelo, sistema, quantidade e peso operacional. Faltam variáveis técnicas, e a divisão aleatória pode pôr a mesma peça em treino e teste.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A667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Análise de Custos de Componentes · Regressão e ML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919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32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Benchmarking por tonelada exige corrigir o modelo B1</a:t>
            </a:r>
            <a:endParaRPr lang="en-US" sz="3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998861"/>
          <a:ext cx="10553700" cy="2476500"/>
        </p:xfrm>
        <a:graphic>
          <a:graphicData uri="http://schemas.openxmlformats.org/drawingml/2006/table">
            <a:tbl>
              <a:tblPr/>
              <a:tblGrid>
                <a:gridCol w="351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17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17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275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4232B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Modelo (peso)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F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4232B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Motor (R$/t)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F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4232B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Frame (R$/t)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32B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M1 (15 t)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32B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2.684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32B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1.444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32B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M3 (25 t)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32B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1.885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32B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1.441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32B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B2 (35 t)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32B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2.463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32B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915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32B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B4 (50 t)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32B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2.202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32B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1.474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32B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B1 (30 t, corrigido)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32B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1.938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32B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982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12800" y="4754761"/>
            <a:ext cx="10883392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4232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Na execução, o B1 ficou com 350 t, pois a correção do peso valia para o nome antigo (HX300). Isso gerou R$ 166/t para motor e R$ 84/t para frame, e os potenciais de economia calculados sobre esse benchmark (como R$ 43 mil em motor do M3) não são válidos. Os valores de B1 acima usam 30 t.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A667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Análise de Custos de Componentes · Benchmarking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32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M3: 22 itens respondem por 80% do custo</a:t>
            </a:r>
            <a:endParaRPr lang="en-US" sz="3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551880"/>
          <a:ext cx="10553700" cy="2476500"/>
        </p:xfrm>
        <a:graphic>
          <a:graphicData uri="http://schemas.openxmlformats.org/drawingml/2006/table">
            <a:tbl>
              <a:tblPr/>
              <a:tblGrid>
                <a:gridCol w="2638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38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38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384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275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4232B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Componente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F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4232B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Sistema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F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4232B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Total (R$)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F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4232B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Acum.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32B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ENGINE-ASSY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32B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Engine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32B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47.135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32B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10,5%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32B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CABIN ASSY-BRAZIL CKD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32B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Cabin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32B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46.739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32B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20,9%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32B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FRAME WA-LOWER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32B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Structural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32B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36.028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32B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28,9%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32B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CHAIN ASSY-TRACK (×2)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32B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Undercarriage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32B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30.182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32B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35,6%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32B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DEVICE-TRAVEL (×2)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32B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Hydraulic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32B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26.055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32B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41,4%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A667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Análise de Custos de Componentes · Target costing M3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2091829"/>
            <a:ext cx="10883392" cy="551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140"/>
              </a:lnSpc>
              <a:buNone/>
            </a:pPr>
            <a:r>
              <a:rPr lang="en-US" sz="3600" b="1" i="0" dirty="0" err="1">
                <a:solidFill>
                  <a:srgbClr val="E8833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Conclusões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68934" y="2846189"/>
            <a:ext cx="10819638" cy="19452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7866" indent="-197866" algn="l">
              <a:lnSpc>
                <a:spcPts val="2520"/>
              </a:lnSpc>
              <a:buSzPct val="100000"/>
              <a:buChar char="•"/>
            </a:pPr>
            <a:r>
              <a:rPr lang="en-US" sz="1800" dirty="0">
                <a:latin typeface="Georgia" pitchFamily="18" charset="0"/>
                <a:ea typeface="Georgia" pitchFamily="18" charset="-122"/>
                <a:cs typeface="Georgia" pitchFamily="18" charset="-120"/>
              </a:rPr>
              <a:t>Priorização: 2,4% dos itens (Classe A) concentram 80% do custo, com motores, frames e cabines à </a:t>
            </a:r>
            <a:r>
              <a:rPr lang="en-US" sz="1800" dirty="0" err="1">
                <a:latin typeface="Georgia" pitchFamily="18" charset="0"/>
                <a:ea typeface="Georgia" pitchFamily="18" charset="-122"/>
                <a:cs typeface="Georgia" pitchFamily="18" charset="-120"/>
              </a:rPr>
              <a:t>frente</a:t>
            </a:r>
            <a:r>
              <a:rPr lang="en-US" sz="1800" dirty="0">
                <a:latin typeface="Georgia" pitchFamily="18" charset="0"/>
                <a:ea typeface="Georgia" pitchFamily="18" charset="-122"/>
                <a:cs typeface="Georgia" pitchFamily="18" charset="-120"/>
              </a:rPr>
              <a:t>;</a:t>
            </a:r>
            <a:endParaRPr lang="en-US" sz="1800" dirty="0"/>
          </a:p>
          <a:p>
            <a:pPr marL="197866" indent="-197866">
              <a:lnSpc>
                <a:spcPts val="2520"/>
              </a:lnSpc>
              <a:buSzPct val="100000"/>
              <a:buFontTx/>
              <a:buChar char="•"/>
            </a:pPr>
            <a:r>
              <a:rPr lang="en-US" dirty="0">
                <a:latin typeface="Georgia" pitchFamily="18" charset="0"/>
                <a:ea typeface="Georgia" pitchFamily="18" charset="-122"/>
                <a:cs typeface="Georgia" pitchFamily="18" charset="-120"/>
              </a:rPr>
              <a:t>Foi </a:t>
            </a:r>
            <a:r>
              <a:rPr lang="en-US" dirty="0" err="1">
                <a:latin typeface="Georgia" pitchFamily="18" charset="0"/>
                <a:ea typeface="Georgia" pitchFamily="18" charset="-122"/>
                <a:cs typeface="Georgia" pitchFamily="18" charset="-120"/>
              </a:rPr>
              <a:t>necessários</a:t>
            </a:r>
            <a:r>
              <a:rPr lang="en-US" dirty="0">
                <a:latin typeface="Georgia" pitchFamily="18" charset="0"/>
                <a:ea typeface="Georgia" pitchFamily="18" charset="-122"/>
                <a:cs typeface="Georgia" pitchFamily="18" charset="-120"/>
              </a:rPr>
              <a:t> </a:t>
            </a:r>
            <a:r>
              <a:rPr lang="en-US" dirty="0" err="1">
                <a:latin typeface="Georgia" pitchFamily="18" charset="0"/>
                <a:ea typeface="Georgia" pitchFamily="18" charset="-122"/>
                <a:cs typeface="Georgia" pitchFamily="18" charset="-120"/>
              </a:rPr>
              <a:t>validar</a:t>
            </a:r>
            <a:r>
              <a:rPr lang="en-US" dirty="0">
                <a:latin typeface="Georgia" pitchFamily="18" charset="0"/>
                <a:ea typeface="Georgia" pitchFamily="18" charset="-122"/>
                <a:cs typeface="Georgia" pitchFamily="18" charset="-120"/>
              </a:rPr>
              <a:t> zeros e </a:t>
            </a:r>
            <a:r>
              <a:rPr lang="en-US" dirty="0" err="1">
                <a:latin typeface="Georgia" pitchFamily="18" charset="0"/>
                <a:ea typeface="Georgia" pitchFamily="18" charset="-122"/>
                <a:cs typeface="Georgia" pitchFamily="18" charset="-120"/>
              </a:rPr>
              <a:t>divergências</a:t>
            </a:r>
            <a:r>
              <a:rPr lang="en-US" dirty="0">
                <a:latin typeface="Georgia" pitchFamily="18" charset="0"/>
                <a:ea typeface="Georgia" pitchFamily="18" charset="-122"/>
                <a:cs typeface="Georgia" pitchFamily="18" charset="-120"/>
              </a:rPr>
              <a:t> de Landed Price e Total;</a:t>
            </a:r>
            <a:endParaRPr lang="en-US" sz="1800" dirty="0">
              <a:latin typeface="Georgia" pitchFamily="18" charset="0"/>
              <a:ea typeface="Georgia" pitchFamily="18" charset="-122"/>
              <a:cs typeface="Georgia" pitchFamily="18" charset="-120"/>
            </a:endParaRPr>
          </a:p>
          <a:p>
            <a:pPr marL="197866" indent="-197866" algn="l">
              <a:lnSpc>
                <a:spcPts val="2520"/>
              </a:lnSpc>
              <a:buSzPct val="100000"/>
              <a:buChar char="•"/>
            </a:pPr>
            <a:r>
              <a:rPr lang="en-US" sz="1800" dirty="0">
                <a:latin typeface="Georgia" pitchFamily="18" charset="0"/>
                <a:ea typeface="Georgia" pitchFamily="18" charset="-122"/>
                <a:cs typeface="Georgia" pitchFamily="18" charset="-120"/>
              </a:rPr>
              <a:t>O </a:t>
            </a:r>
            <a:r>
              <a:rPr lang="en-US" sz="1800" dirty="0" err="1">
                <a:latin typeface="Georgia" pitchFamily="18" charset="0"/>
                <a:ea typeface="Georgia" pitchFamily="18" charset="-122"/>
                <a:cs typeface="Georgia" pitchFamily="18" charset="-120"/>
              </a:rPr>
              <a:t>modelo</a:t>
            </a:r>
            <a:r>
              <a:rPr lang="en-US" sz="1800" dirty="0">
                <a:latin typeface="Georgia" pitchFamily="18" charset="0"/>
                <a:ea typeface="Georgia" pitchFamily="18" charset="-122"/>
                <a:cs typeface="Georgia" pitchFamily="18" charset="-120"/>
              </a:rPr>
              <a:t> </a:t>
            </a:r>
            <a:r>
              <a:rPr lang="en-US" sz="1800" dirty="0" err="1">
                <a:latin typeface="Georgia" pitchFamily="18" charset="0"/>
                <a:ea typeface="Georgia" pitchFamily="18" charset="-122"/>
                <a:cs typeface="Georgia" pitchFamily="18" charset="-120"/>
              </a:rPr>
              <a:t>que</a:t>
            </a:r>
            <a:r>
              <a:rPr lang="en-US" sz="1800" dirty="0">
                <a:latin typeface="Georgia" pitchFamily="18" charset="0"/>
                <a:ea typeface="Georgia" pitchFamily="18" charset="-122"/>
                <a:cs typeface="Georgia" pitchFamily="18" charset="-120"/>
              </a:rPr>
              <a:t> </a:t>
            </a:r>
            <a:r>
              <a:rPr lang="en-US" sz="1800" dirty="0" err="1">
                <a:latin typeface="Georgia" pitchFamily="18" charset="0"/>
                <a:ea typeface="Georgia" pitchFamily="18" charset="-122"/>
                <a:cs typeface="Georgia" pitchFamily="18" charset="-120"/>
              </a:rPr>
              <a:t>melhor</a:t>
            </a:r>
            <a:r>
              <a:rPr lang="en-US" sz="1800" dirty="0">
                <a:latin typeface="Georgia" pitchFamily="18" charset="0"/>
                <a:ea typeface="Georgia" pitchFamily="18" charset="-122"/>
                <a:cs typeface="Georgia" pitchFamily="18" charset="-120"/>
              </a:rPr>
              <a:t> </a:t>
            </a:r>
            <a:r>
              <a:rPr lang="en-US" sz="1800" dirty="0" err="1">
                <a:latin typeface="Georgia" pitchFamily="18" charset="0"/>
                <a:ea typeface="Georgia" pitchFamily="18" charset="-122"/>
                <a:cs typeface="Georgia" pitchFamily="18" charset="-120"/>
              </a:rPr>
              <a:t>performou</a:t>
            </a:r>
            <a:r>
              <a:rPr lang="en-US" sz="1800" dirty="0">
                <a:latin typeface="Georgia" pitchFamily="18" charset="0"/>
                <a:ea typeface="Georgia" pitchFamily="18" charset="-122"/>
                <a:cs typeface="Georgia" pitchFamily="18" charset="-120"/>
              </a:rPr>
              <a:t> </a:t>
            </a:r>
            <a:r>
              <a:rPr lang="en-US" sz="1800" dirty="0" err="1">
                <a:latin typeface="Georgia" pitchFamily="18" charset="0"/>
                <a:ea typeface="Georgia" pitchFamily="18" charset="-122"/>
                <a:cs typeface="Georgia" pitchFamily="18" charset="-120"/>
              </a:rPr>
              <a:t>teve</a:t>
            </a:r>
            <a:r>
              <a:rPr lang="en-US" sz="1800" dirty="0">
                <a:latin typeface="Georgia" pitchFamily="18" charset="0"/>
                <a:ea typeface="Georgia" pitchFamily="18" charset="-122"/>
                <a:cs typeface="Georgia" pitchFamily="18" charset="-120"/>
              </a:rPr>
              <a:t> R² máximo de 0,083;</a:t>
            </a:r>
            <a:endParaRPr lang="en-US" sz="1800" dirty="0"/>
          </a:p>
          <a:p>
            <a:pPr marL="197866" indent="-197866" algn="l">
              <a:lnSpc>
                <a:spcPts val="2520"/>
              </a:lnSpc>
              <a:buSzPct val="100000"/>
              <a:buChar char="•"/>
            </a:pPr>
            <a:r>
              <a:rPr lang="en-US" dirty="0">
                <a:latin typeface="Georgia" pitchFamily="18" charset="0"/>
              </a:rPr>
              <a:t>Com </a:t>
            </a:r>
            <a:r>
              <a:rPr lang="en-US" dirty="0" err="1">
                <a:latin typeface="Georgia" pitchFamily="18" charset="0"/>
              </a:rPr>
              <a:t>este</a:t>
            </a:r>
            <a:r>
              <a:rPr lang="en-US" dirty="0">
                <a:latin typeface="Georgia" pitchFamily="18" charset="0"/>
              </a:rPr>
              <a:t> </a:t>
            </a:r>
            <a:r>
              <a:rPr lang="en-US" dirty="0" err="1">
                <a:latin typeface="Georgia" pitchFamily="18" charset="0"/>
              </a:rPr>
              <a:t>código</a:t>
            </a:r>
            <a:r>
              <a:rPr lang="en-US" dirty="0">
                <a:latin typeface="Georgia" pitchFamily="18" charset="0"/>
              </a:rPr>
              <a:t> </a:t>
            </a:r>
            <a:r>
              <a:rPr lang="en-US" dirty="0" err="1">
                <a:latin typeface="Georgia" pitchFamily="18" charset="0"/>
              </a:rPr>
              <a:t>foi</a:t>
            </a:r>
            <a:r>
              <a:rPr lang="en-US" dirty="0">
                <a:latin typeface="Georgia" pitchFamily="18" charset="0"/>
              </a:rPr>
              <a:t> </a:t>
            </a:r>
            <a:r>
              <a:rPr lang="en-US" dirty="0" err="1">
                <a:latin typeface="Georgia" pitchFamily="18" charset="0"/>
              </a:rPr>
              <a:t>possível</a:t>
            </a:r>
            <a:r>
              <a:rPr lang="en-US" dirty="0">
                <a:latin typeface="Georgia" pitchFamily="18" charset="0"/>
              </a:rPr>
              <a:t> </a:t>
            </a:r>
            <a:r>
              <a:rPr lang="en-US" dirty="0" err="1">
                <a:latin typeface="Georgia" pitchFamily="18" charset="0"/>
              </a:rPr>
              <a:t>fazer</a:t>
            </a:r>
            <a:r>
              <a:rPr lang="en-US" dirty="0">
                <a:latin typeface="Georgia" pitchFamily="18" charset="0"/>
              </a:rPr>
              <a:t> um benchmarking entre as </a:t>
            </a:r>
            <a:r>
              <a:rPr lang="en-US" dirty="0" err="1">
                <a:latin typeface="Georgia" pitchFamily="18" charset="0"/>
              </a:rPr>
              <a:t>máquinas</a:t>
            </a:r>
            <a:r>
              <a:rPr lang="en-US" dirty="0">
                <a:latin typeface="Georgia" pitchFamily="18" charset="0"/>
              </a:rPr>
              <a:t> e saber quais </a:t>
            </a:r>
            <a:r>
              <a:rPr lang="en-US" dirty="0" err="1">
                <a:latin typeface="Georgia" pitchFamily="18" charset="0"/>
              </a:rPr>
              <a:t>componentes</a:t>
            </a:r>
            <a:r>
              <a:rPr lang="en-US" dirty="0">
                <a:latin typeface="Georgia" pitchFamily="18" charset="0"/>
              </a:rPr>
              <a:t> </a:t>
            </a:r>
            <a:r>
              <a:rPr lang="en-US" dirty="0" err="1">
                <a:latin typeface="Georgia" pitchFamily="18" charset="0"/>
              </a:rPr>
              <a:t>devemos</a:t>
            </a:r>
            <a:r>
              <a:rPr lang="en-US" dirty="0">
                <a:latin typeface="Georgia" pitchFamily="18" charset="0"/>
              </a:rPr>
              <a:t> ter </a:t>
            </a:r>
            <a:r>
              <a:rPr lang="en-US" dirty="0" err="1">
                <a:latin typeface="Georgia" pitchFamily="18" charset="0"/>
              </a:rPr>
              <a:t>mais</a:t>
            </a:r>
            <a:r>
              <a:rPr lang="en-US" dirty="0">
                <a:latin typeface="Georgia" pitchFamily="18" charset="0"/>
              </a:rPr>
              <a:t> </a:t>
            </a:r>
            <a:r>
              <a:rPr lang="en-US" dirty="0" err="1">
                <a:latin typeface="Georgia" pitchFamily="18" charset="0"/>
              </a:rPr>
              <a:t>atenção</a:t>
            </a:r>
            <a:r>
              <a:rPr lang="en-US" dirty="0">
                <a:latin typeface="Georgia" pitchFamily="18" charset="0"/>
              </a:rPr>
              <a:t>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nálise de Custos de Componentes de Escavadeiras">
  <a:themeElements>
    <a:clrScheme name="Análise de Custos de Componentes de Escavadeiras">
      <a:dk1>
        <a:srgbClr val="14232B"/>
      </a:dk1>
      <a:lt1>
        <a:srgbClr val="F4F1EA"/>
      </a:lt1>
      <a:dk2>
        <a:srgbClr val="4C575B"/>
      </a:dk2>
      <a:lt2>
        <a:srgbClr val="DEDCD7"/>
      </a:lt2>
      <a:accent1>
        <a:srgbClr val="E8833A"/>
      </a:accent1>
      <a:accent2>
        <a:srgbClr val="1F7A70"/>
      </a:accent2>
      <a:accent3>
        <a:srgbClr val="5A6670"/>
      </a:accent3>
      <a:accent4>
        <a:srgbClr val="B8C4CC"/>
      </a:accent4>
      <a:accent5>
        <a:srgbClr val="9AA0A6"/>
      </a:accent5>
      <a:accent6>
        <a:srgbClr val="6E7577"/>
      </a:accent6>
      <a:hlink>
        <a:srgbClr val="0563C1"/>
      </a:hlink>
      <a:folHlink>
        <a:srgbClr val="954F72"/>
      </a:folHlink>
    </a:clrScheme>
    <a:fontScheme name="Análise de Custos de Componentes de Escavadeiras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Georgi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Análise de Custos de Componentes de Escavadeiras">
    <a:dk1>
      <a:srgbClr val="14232B"/>
    </a:dk1>
    <a:lt1>
      <a:srgbClr val="F4F1EA"/>
    </a:lt1>
    <a:dk2>
      <a:srgbClr val="4C575B"/>
    </a:dk2>
    <a:lt2>
      <a:srgbClr val="DEDCD7"/>
    </a:lt2>
    <a:accent1>
      <a:srgbClr val="E8833A"/>
    </a:accent1>
    <a:accent2>
      <a:srgbClr val="1F7A70"/>
    </a:accent2>
    <a:accent3>
      <a:srgbClr val="5A6670"/>
    </a:accent3>
    <a:accent4>
      <a:srgbClr val="B8C4CC"/>
    </a:accent4>
    <a:accent5>
      <a:srgbClr val="9AA0A6"/>
    </a:accent5>
    <a:accent6>
      <a:srgbClr val="6E757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Words>905</Words>
  <Application>Microsoft Office PowerPoint</Application>
  <PresentationFormat>Widescreen</PresentationFormat>
  <Paragraphs>122</Paragraphs>
  <Slides>8</Slides>
  <Notes>8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1" baseType="lpstr">
      <vt:lpstr>Arial</vt:lpstr>
      <vt:lpstr>Georgia</vt:lpstr>
      <vt:lpstr>Análise de Custos de Componentes de Escavadeiras</vt:lpstr>
      <vt:lpstr>Análise de Custos de Componentes de Escavadeiras</vt:lpstr>
      <vt:lpstr>Objetivo</vt:lpstr>
      <vt:lpstr>Base de dados e regras de tratamento</vt:lpstr>
      <vt:lpstr>Poucos componentes concentram o custo</vt:lpstr>
      <vt:lpstr>Variáveis simples explicam pouco do custo</vt:lpstr>
      <vt:lpstr>Benchmarking por tonelada exige corrigir o modelo B1</vt:lpstr>
      <vt:lpstr>M3: 22 itens respondem por 80% do custo</vt:lpstr>
      <vt:lpstr>Conclusões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Análise de Custos de Componentes de Escavadeiras</dc:title>
  <dc:subject/>
  <dc:creator/>
  <cp:lastModifiedBy>Marcelo Melchiades</cp:lastModifiedBy>
  <cp:revision>2</cp:revision>
  <dcterms:created xsi:type="dcterms:W3CDTF">2026-10-18T15:44:52Z</dcterms:created>
  <dcterms:modified xsi:type="dcterms:W3CDTF">2026-10-18T19:54:34Z</dcterms:modified>
</cp:coreProperties>
</file>